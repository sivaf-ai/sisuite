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Ricavo preventivo</c:v>
                </c:pt>
              </c:strCache>
            </c:strRef>
          </c:tx>
          <c:spPr>
            <a:solidFill>
              <a:srgbClr val="5B4D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Tratta A</c:v>
                  </c:pt>
                  <c:pt idx="1">
                    <c:v>Tratta B</c:v>
                  </c:pt>
                  <c:pt idx="2">
                    <c:v>Attivazioni</c:v>
                  </c:pt>
                  <c:pt idx="3">
                    <c:v>Giunzioni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142</c:v>
                </c:pt>
                <c:pt idx="2">
                  <c:v>88</c:v>
                </c:pt>
                <c:pt idx="3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Ricavo consuntivo</c:v>
                </c:pt>
              </c:strCache>
            </c:strRef>
          </c:tx>
          <c:spPr>
            <a:solidFill>
              <a:srgbClr val="1FC8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Tratta A</c:v>
                  </c:pt>
                  <c:pt idx="1">
                    <c:v>Tratta B</c:v>
                  </c:pt>
                  <c:pt idx="2">
                    <c:v>Attivazioni</c:v>
                  </c:pt>
                  <c:pt idx="3">
                    <c:v>Giunzioni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118</c:v>
                </c:pt>
                <c:pt idx="1">
                  <c:v>133</c:v>
                </c:pt>
                <c:pt idx="2">
                  <c:v>84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1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0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8F9B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A8F9B"/>
                    </a:solidFill>
                    <a:latin typeface="Arial"/>
                  </a:rPr>
                  <a:t>€ migliaia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1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C616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Apri con la promessa: il tecnico parla, il sistema struttura. Tre bisogni di POWERCOM, una piattaforma. Pilota sulla fibra.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è che lavorano male: è che usano tre strumenti che non si parlano. siSuite li unisce in un flusso unico.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cuore. Tutto il resto sono moduli che girano attorno a questo ciclo bidirezionale.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moduli, ma una sola base dati. Si parte dai primi due (la sua urgenza), il terzo è parallelo.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 sulla privacy: per i subappaltatori fibra è il rischio numero uno, e qui diventa un punto di forza vendibile.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lotto resta pronto per i consumabili a quantità, ma la fibra chiede seriali. Password mai in chiaro.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 che la pivot è uguale a quella di CPM (Commessa × WBS × Voce) ma senza il data-entry di CPM, e con export verso CPM.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lo schema d'insieme: la stessa figura è anche un file HTML interattivo nel pacchetto.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Messaggio chiave: non sostituiamo CPM nelle sue cose forti e normate; copriamo la fetta che usano davvero, meglio e in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schermate già pronte come mockup navigabili: la demo si fa dal vivo a larghezza desktop, niente secondo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Pilota a tappe: valore visibile già dalla fase 1; la contabilità arriva subito dopo.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Chiudi con la call to action: pilota fibra con dati reali. Disponibilità a un meet tecnico di kickoff.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5B4DF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754880" cy="4754880"/>
          </a:xfrm>
          <a:prstGeom prst="ellipse">
            <a:avLst/>
          </a:prstGeom>
          <a:solidFill>
            <a:srgbClr val="1FC8C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5B4D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235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749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gestione del campo che parla la tua lingua.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</a:t>
            </a:r>
            <a:pPr indent="0" marL="0">
              <a:buNone/>
            </a:pPr>
            <a:r>
              <a:rPr lang="en-US" sz="1600" b="1" dirty="0">
                <a:solidFill>
                  <a:srgbClr val="1F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</a:t>
            </a:r>
            <a:pPr indent="0" marL="0">
              <a:buNone/>
            </a:pPr>
            <a:r>
              <a:rPr lang="en-US" sz="1600" dirty="0">
                <a:solidFill>
                  <a:srgbClr val="C9C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cantieri fibra: magazzino a seriali, ordinativi di attivazione e contabilità di produzione — tutto dettabile a voce.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per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POWERCOM S.r.l.</a:t>
            </a:r>
            <a:pPr indent="0" marL="0">
              <a:buNone/>
            </a:pPr>
            <a:r>
              <a:rPr lang="en-US" sz="13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infrastrutturazione FTTH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Sivaf Informatica · Giugno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POWERCOM OGGI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processi, tre strumenti scollegati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9424"/>
            <a:ext cx="585216" cy="585216"/>
          </a:xfrm>
          <a:prstGeom prst="ellipse">
            <a:avLst/>
          </a:prstGeom>
          <a:solidFill>
            <a:srgbClr val="FBF0D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436" y="2401580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756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 e seriali a mano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45973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Apparati (ONT, HUB6, borchie) tracciati su fogli e memoria: dov'è ogni pezzo, quale seriale è stato montato e dove. Niente storico affidabile.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55848"/>
            <a:ext cx="10515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0" y="3730752"/>
            <a:ext cx="585216" cy="585216"/>
          </a:xfrm>
          <a:prstGeom prst="ellipse">
            <a:avLst/>
          </a:prstGeom>
          <a:solidFill>
            <a:srgbClr val="FBE7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436" y="3882908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55701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Attivazioni tra Excel e portali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20240" y="394106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ordinativi dei gestori arrivano su portali in 2FA e finiscono in fogli: dati intestatario, indirizzi, apparati. Doppio inserimento e rischio privacy.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837176"/>
            <a:ext cx="10515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5212080"/>
            <a:ext cx="585216" cy="585216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36" y="536423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503834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Contabilità pesante su CPM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54223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TeamSystem CPM è potente ma fatto per l'edilizia pubblica normata: serve solo la fetta 'costi/ricavi di produzione', il resto è zavorra.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 SISUITE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propone, il deterministico dispone.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cattura vocale traduce il linguaggio naturale del tecnico in dati strutturati e fatturabili; un livello deterministico valida e registra (l'AI non scrive mai da sola nel database). Poi il sistema racconta lo stato in linguaggio naturale.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3054096"/>
            <a:ext cx="713232" cy="713232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008" y="323953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98064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15568" y="3977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tecnico parla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5568" y="437083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«Montato ONT 7741, una borchia, attivazione ok»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3831336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85032" y="2743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77640" y="3054096"/>
            <a:ext cx="713232" cy="713232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080" y="3239536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0136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3977640" y="3977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struttura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977640" y="437083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seriali, apparati, lavorazioni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3831336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47104" y="2743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39712" y="3054096"/>
            <a:ext cx="713232" cy="713232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152" y="3239536"/>
            <a:ext cx="342351" cy="3423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22208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6839712" y="3977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registra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839712" y="437083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l'uomo conferma, il DB scrive in modo deterministico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3831336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409176" y="2743200"/>
            <a:ext cx="2615184" cy="2468880"/>
          </a:xfrm>
          <a:prstGeom prst="roundRect">
            <a:avLst>
              <a:gd name="adj" fmla="val 3704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701784" y="3054096"/>
            <a:ext cx="713232" cy="713232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7224" y="3239536"/>
            <a:ext cx="342351" cy="342351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3842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1"/>
          <p:cNvSpPr/>
          <p:nvPr/>
        </p:nvSpPr>
        <p:spPr>
          <a:xfrm>
            <a:off x="9701784" y="3977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racconta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9701784" y="437083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commessa e margine in linguaggio naturale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moduli su una spina sola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→ fase/WBS → attività → risorsa/tempo/materiale · multi-tenant, cloud, con isolamento dei dati per cliente.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419856" cy="384048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468880"/>
            <a:ext cx="914400" cy="914400"/>
          </a:xfrm>
          <a:prstGeom prst="ellipse">
            <a:avLst/>
          </a:prstGeom>
          <a:solidFill>
            <a:srgbClr val="DEF7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7066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5204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3813048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 a seriali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88720" y="4526280"/>
            <a:ext cx="2688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apparato è un pezzo unico: seriale, stato, dove si trova. Quando è installato entra nel parco installato del cliente.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2057400"/>
            <a:ext cx="3419856" cy="384048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468880"/>
            <a:ext cx="914400" cy="914400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7066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5204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3813048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Ordinativi FTTH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46320" y="4526280"/>
            <a:ext cx="2688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ticket di attivazione come oggetto di prima classe, con i dati dell'utente finale isolati e protetti.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38160" y="2057400"/>
            <a:ext cx="3419856" cy="384048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03920" y="2468880"/>
            <a:ext cx="914400" cy="914400"/>
          </a:xfrm>
          <a:prstGeom prst="ellipse">
            <a:avLst/>
          </a:prstGeom>
          <a:solidFill>
            <a:srgbClr val="E0F4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270662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3920" y="35204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03920" y="3813048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Contabilità di produzione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503920" y="4526280"/>
            <a:ext cx="2688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Voci di capitolato × quantità → costi e ricavi. Pivot preventivo-consuntivo per commessa, fase e voce.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· ORDINATIVI FTTH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ticket di attivazione, fatto bene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676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836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Oggetto di prima classe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 leader del field service (Salesforce, Dynamics): ordine + righe apparati + visita in agenda separata.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89060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7066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 installati tracciati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ONT, con quale password, a quale indirizzo. Entra nel parco installato per l'assistenza futura.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566160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37135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529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dai gestori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ordinativi arrivano via CSV/portale e diventano ticket con numerazione automatica.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53652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3525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a voce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tecnico detta l'esito; l'AI propone seriali, apparati e lavorazioni da confermare.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858000" y="1920240"/>
            <a:ext cx="4480560" cy="3200400"/>
          </a:xfrm>
          <a:prstGeom prst="roundRect">
            <a:avLst>
              <a:gd name="adj" fmla="val 3429"/>
            </a:avLst>
          </a:prstGeom>
          <a:solidFill>
            <a:srgbClr val="1B1D2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78040" y="2240280"/>
            <a:ext cx="777240" cy="777240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122" y="2442362"/>
            <a:ext cx="373075" cy="3730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78040" y="3108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7178040" y="3611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dell'utente finale stanno in una tabella separata e mascherata: visibili solo con permesso, cancellabili a fine pratica. È esattamente il punto su cui i gestori fanno causa.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178040" y="4663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una leva commerciale, non un costo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· MAGAZZINO A SERIALI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furgone al parco installato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46504" y="2514600"/>
            <a:ext cx="768096" cy="768096"/>
          </a:xfrm>
          <a:prstGeom prst="ellipse">
            <a:avLst/>
          </a:prstGeom>
          <a:solidFill>
            <a:srgbClr val="EEF0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6209" y="271430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magazzino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850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pezzo è in scaffale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3017520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85032" y="224028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08576" y="2514600"/>
            <a:ext cx="768096" cy="768096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81" y="2714305"/>
            <a:ext cx="368686" cy="3686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85032" y="333756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Assegnato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685032" y="36850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furgone / squadra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3017520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47104" y="224028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470648" y="2514600"/>
            <a:ext cx="768096" cy="768096"/>
          </a:xfrm>
          <a:prstGeom prst="ellipse">
            <a:avLst/>
          </a:prstGeom>
          <a:solidFill>
            <a:srgbClr val="E0F4E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353" y="2714305"/>
            <a:ext cx="368686" cy="36868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47104" y="333756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547104" y="36850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montato a casa cliente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6004" y="3017520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409176" y="224028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332720" y="2514600"/>
            <a:ext cx="768096" cy="768096"/>
          </a:xfrm>
          <a:prstGeom prst="ellipse">
            <a:avLst/>
          </a:prstGeom>
          <a:solidFill>
            <a:srgbClr val="DEF7F5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2425" y="2714305"/>
            <a:ext cx="368686" cy="36868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409176" y="333756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 installato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409176" y="36850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per assistenza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822960" y="457200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DEF7F5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1097280" y="4846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7475" y="5036515"/>
            <a:ext cx="351130" cy="35113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965960" y="4846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Seriale ≠ lotto.  </a:t>
            </a:r>
            <a:pPr indent="0" marL="0">
              <a:buNone/>
            </a:pPr>
            <a:r>
              <a:rPr lang="en-US" sz="1300" dirty="0">
                <a:solidFill>
                  <a:srgbClr val="2A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apparati elettronici con garanzia e password vanno a seriale (un pezzo, un numero). La password è cifrata e visibile solo con permesso dedicato.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· CONTABILITÀ DI PRODUZIONE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vs consuntivo, in tempo reale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Voci di capitolato × quantità → ricavo. </a:t>
            </a:r>
            <a:pPr indent="0" marL="0">
              <a:buNone/>
            </a:pPr>
            <a:r>
              <a:rPr lang="en-US" sz="130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Ore, materiali, mezzi e subappalti confluiscono in un'unica griglia; il tipo è dedotto dalla fonte, non si compila.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8906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066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= albero delle fasi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struttura nuova: la fase è il nodo WBS.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520440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36678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4838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Listino base + ritocchi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4480" y="3794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prezzo madre, override per gestore o commessa.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44508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2611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con CPM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5448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dei consuntivi in Excel/CPM, niente doppio lavoro.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83680" y="1508760"/>
            <a:ext cx="47548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8122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per fase (commessa Sirti)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720840" y="2148840"/>
          <a:ext cx="44805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INCASTRA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flusso, dall'ordinativo al margine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103120" cy="2331720"/>
          </a:xfrm>
          <a:prstGeom prst="roundRect">
            <a:avLst>
              <a:gd name="adj" fmla="val 4348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2231136"/>
            <a:ext cx="768096" cy="768096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177" y="24308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Commessa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4930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 + area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967228"/>
            <a:ext cx="192024" cy="1920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18104" y="1920240"/>
            <a:ext cx="2103120" cy="2331720"/>
          </a:xfrm>
          <a:prstGeom prst="roundRect">
            <a:avLst>
              <a:gd name="adj" fmla="val 4348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85616" y="2231136"/>
            <a:ext cx="768096" cy="768096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321" y="2430841"/>
            <a:ext cx="368686" cy="3686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18104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Ordinativo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255264" y="34930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+ PII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2967228"/>
            <a:ext cx="192024" cy="19202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13248" y="1920240"/>
            <a:ext cx="2103120" cy="2331720"/>
          </a:xfrm>
          <a:prstGeom prst="roundRect">
            <a:avLst>
              <a:gd name="adj" fmla="val 4348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80760" y="2231136"/>
            <a:ext cx="768096" cy="768096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465" y="2430841"/>
            <a:ext cx="368686" cy="36868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13248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5550408" y="34930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 → parco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2967228"/>
            <a:ext cx="192024" cy="19202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708392" y="1920240"/>
            <a:ext cx="2103120" cy="2331720"/>
          </a:xfrm>
          <a:prstGeom prst="roundRect">
            <a:avLst>
              <a:gd name="adj" fmla="val 4348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375904" y="2231136"/>
            <a:ext cx="768096" cy="768096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5609" y="2430841"/>
            <a:ext cx="368686" cy="36868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708392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Rapportino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7845552" y="34930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· materiali · lavori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1512" y="2967228"/>
            <a:ext cx="192024" cy="19202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10003536" y="1920240"/>
            <a:ext cx="2103120" cy="2331720"/>
          </a:xfrm>
          <a:prstGeom prst="roundRect">
            <a:avLst>
              <a:gd name="adj" fmla="val 4348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671048" y="2231136"/>
            <a:ext cx="768096" cy="768096"/>
          </a:xfrm>
          <a:prstGeom prst="ellipse">
            <a:avLst/>
          </a:prstGeom>
          <a:solidFill>
            <a:srgbClr val="5B4DF0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0753" y="2430841"/>
            <a:ext cx="368686" cy="36868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003536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10140696" y="34930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· ricavi · margine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822960" y="470916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1097280" y="5029200"/>
            <a:ext cx="658368" cy="658368"/>
          </a:xfrm>
          <a:prstGeom prst="ellipse">
            <a:avLst/>
          </a:prstGeom>
          <a:solidFill>
            <a:srgbClr val="1FC8C2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8456" y="5200376"/>
            <a:ext cx="316017" cy="316017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92024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catturabile a voce.  </a:t>
            </a:r>
            <a:pPr indent="0" marL="0">
              <a:buNone/>
            </a:pPr>
            <a:r>
              <a:rPr lang="en-US" sz="1200" dirty="0">
                <a:solidFill>
                  <a:srgbClr val="C9C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tecnico detta, l'AI propone le righe, l'uomo conferma.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6172200" y="470916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242634"/>
          </a:solidFill>
          <a:ln w="12700">
            <a:solidFill>
              <a:srgbClr val="34384A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6446520" y="5029200"/>
            <a:ext cx="658368" cy="658368"/>
          </a:xfrm>
          <a:prstGeom prst="ellipse">
            <a:avLst/>
          </a:prstGeom>
          <a:solidFill>
            <a:srgbClr val="E04550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7696" y="5200376"/>
            <a:ext cx="316017" cy="316017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26948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isolata in ogni passo.  </a:t>
            </a:r>
            <a:pPr indent="0" marL="0">
              <a:buNone/>
            </a:pPr>
            <a:r>
              <a:rPr lang="en-US" sz="1200" dirty="0">
                <a:solidFill>
                  <a:srgbClr val="C9C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utente finale separati, mascherati, cancellabili.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facciamo noi, cosa resta a CPM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siSuite copre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 a TeamSystem CPM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2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Magazzino cloud a seriali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 e certificati di pagamento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consuntivi →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Ordinativi FTTH + 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Giornale dei lavori normato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→ formato CPM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Contabilità di produzione (voci, pivot)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Prezzari ufficiali DEI / BIM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Niente doppio inserimento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Cattura vocale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Direzione Lavori pubblica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D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Frammentazione momentanea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inseguiamo l'ERP normato dell'edilizia pubblica: vinciamo su cloud, voce, privacy e configurabilità per verticale.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DA VEDERE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schermate sono già disegnate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276856"/>
            <a:ext cx="640080" cy="640080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989" y="2443277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9514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Ordinativi FTTH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74520" y="266090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+ scheda con cattura vocale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15568" y="329184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pronto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80560" y="1965960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2276856"/>
            <a:ext cx="640080" cy="640080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589" y="2443277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29514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Articoli &amp; seriali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532120" y="266090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+ unità seriali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73168" y="329184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pronto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965960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0768" y="2276856"/>
            <a:ext cx="640080" cy="640080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189" y="2443277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9720" y="229514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Listino voci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189720" y="266090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voci di capitolato + ritocchi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430768" y="329184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pronto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22960" y="4005072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115568" y="4315968"/>
            <a:ext cx="640080" cy="640080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989" y="4482389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74520" y="433425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Preventivo-consuntivo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1874520" y="470001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multicommessa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15568" y="53309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pronto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480560" y="4005072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73168" y="4315968"/>
            <a:ext cx="640080" cy="640080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589" y="4482389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32120" y="433425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Rapportino esteso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5532120" y="470001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sezioni + voce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773168" y="53309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pronto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138160" y="4005072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30768" y="4315968"/>
            <a:ext cx="640080" cy="640080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7189" y="4482389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89720" y="433425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Lavorazioni</a:t>
            </a:r>
            <a:endParaRPr lang="en-US" sz="1550" dirty="0"/>
          </a:p>
        </p:txBody>
      </p:sp>
      <p:sp>
        <p:nvSpPr>
          <p:cNvPr id="38" name="Text 30"/>
          <p:cNvSpPr/>
          <p:nvPr/>
        </p:nvSpPr>
        <p:spPr>
          <a:xfrm>
            <a:off x="9189720" y="470001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libretto misure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8430768" y="53309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pronto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PARTIAMO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pilota concreto sulla fibra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22576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4699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· Setup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5786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POWERCOM, utenti e squadre, import del primo lotto di ordinativi.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89720" y="2395728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DEF7F5"/>
          </a:solidFill>
          <a:ln/>
        </p:spPr>
      </p:sp>
      <p:sp>
        <p:nvSpPr>
          <p:cNvPr id="10" name="Text 7"/>
          <p:cNvSpPr/>
          <p:nvPr/>
        </p:nvSpPr>
        <p:spPr>
          <a:xfrm>
            <a:off x="9189720" y="23957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settimane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38328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3694176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81" y="384157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566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Ordinativi + seriali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2024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squadre lavorano sul campo: ticket, seriali installati, chiusura a voce.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189720" y="3767328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DEF7F5"/>
          </a:solidFill>
          <a:ln/>
        </p:spPr>
      </p:sp>
      <p:sp>
        <p:nvSpPr>
          <p:cNvPr id="17" name="Text 13"/>
          <p:cNvSpPr/>
          <p:nvPr/>
        </p:nvSpPr>
        <p:spPr>
          <a:xfrm>
            <a:off x="9189720" y="37673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settimane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" y="475488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97280" y="5065776"/>
            <a:ext cx="566928" cy="566928"/>
          </a:xfrm>
          <a:prstGeom prst="ellipse">
            <a:avLst/>
          </a:prstGeom>
          <a:solidFill>
            <a:srgbClr val="ECEAF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81" y="5213177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Contabilità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920240" y="53218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Voci di capitolato, rapportino esteso, pivot preventivo-consuntivo + export CPM.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189720" y="5138928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DEF7F5"/>
          </a:solidFill>
          <a:ln/>
        </p:spPr>
      </p:sp>
      <p:sp>
        <p:nvSpPr>
          <p:cNvPr id="24" name="Text 19"/>
          <p:cNvSpPr/>
          <p:nvPr/>
        </p:nvSpPr>
        <p:spPr>
          <a:xfrm>
            <a:off x="9189720" y="51389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settimane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5B4DF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1FC8C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Partiamo dal campo.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pilota fibra, dati reali, in poche settimane. </a:t>
            </a:r>
            <a:pPr indent="0" marL="0">
              <a:buNone/>
            </a:pPr>
            <a:r>
              <a:rPr lang="en-US" sz="1700" b="1" dirty="0">
                <a:solidFill>
                  <a:srgbClr val="1F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tecnico parla, siSuite struttura.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777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5B4D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9052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749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Sivaf Informatica  ·  siSuite  ·  Giugno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siSuite — Proposta POWERCOM</dc:title>
  <dc:subject>PptxGenJS Presentation</dc:subject>
  <dc:creator>Sivaf Informatica</dc:creator>
  <cp:lastModifiedBy>Sivaf Informatica</cp:lastModifiedBy>
  <cp:revision>1</cp:revision>
  <dcterms:created xsi:type="dcterms:W3CDTF">2026-06-16T06:47:47Z</dcterms:created>
  <dcterms:modified xsi:type="dcterms:W3CDTF">2026-06-16T06:47:47Z</dcterms:modified>
</cp:coreProperties>
</file>